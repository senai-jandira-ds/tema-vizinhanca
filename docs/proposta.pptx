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TC Motter Corpus Regular" charset="1" panose="02000505050000020004"/>
      <p:regular r:id="rId11"/>
    </p:embeddedFont>
    <p:embeddedFont>
      <p:font typeface="DM Sans" charset="1" panose="00000000000000000000"/>
      <p:regular r:id="rId12"/>
    </p:embeddedFont>
    <p:embeddedFont>
      <p:font typeface="DM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364" y="5143500"/>
            <a:ext cx="16996193" cy="4631462"/>
          </a:xfrm>
          <a:custGeom>
            <a:avLst/>
            <a:gdLst/>
            <a:ahLst/>
            <a:cxnLst/>
            <a:rect r="r" b="b" t="t" l="l"/>
            <a:pathLst>
              <a:path h="4631462" w="16996193">
                <a:moveTo>
                  <a:pt x="0" y="0"/>
                </a:moveTo>
                <a:lnTo>
                  <a:pt x="16996192" y="0"/>
                </a:lnTo>
                <a:lnTo>
                  <a:pt x="16996192" y="4631462"/>
                </a:lnTo>
                <a:lnTo>
                  <a:pt x="0" y="4631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9686" y="2455034"/>
            <a:ext cx="14748628" cy="19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4"/>
              </a:lnSpc>
            </a:pPr>
            <a:r>
              <a:rPr lang="en-US" sz="9395">
                <a:solidFill>
                  <a:srgbClr val="AF5937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VIZINHANÇA</a:t>
            </a:r>
          </a:p>
          <a:p>
            <a:pPr algn="ctr" marL="0" indent="0" lvl="0">
              <a:lnSpc>
                <a:spcPts val="3810"/>
              </a:lnSpc>
              <a:spcBef>
                <a:spcPct val="0"/>
              </a:spcBef>
            </a:pPr>
            <a:r>
              <a:rPr lang="en-US" sz="3313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QUEM MORA PERTO, AJUDA MAIS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1327" y="2819096"/>
            <a:ext cx="1301057" cy="13010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1818" y="2819096"/>
            <a:ext cx="1301057" cy="13010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45616" y="2819096"/>
            <a:ext cx="1301057" cy="13010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184410" y="6853430"/>
            <a:ext cx="20079191" cy="6048856"/>
          </a:xfrm>
          <a:custGeom>
            <a:avLst/>
            <a:gdLst/>
            <a:ahLst/>
            <a:cxnLst/>
            <a:rect r="r" b="b" t="t" l="l"/>
            <a:pathLst>
              <a:path h="6048856" w="20079191">
                <a:moveTo>
                  <a:pt x="0" y="0"/>
                </a:moveTo>
                <a:lnTo>
                  <a:pt x="20079191" y="0"/>
                </a:lnTo>
                <a:lnTo>
                  <a:pt x="20079191" y="6048856"/>
                </a:lnTo>
                <a:lnTo>
                  <a:pt x="0" y="604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45023" y="1346489"/>
            <a:ext cx="12797955" cy="11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2"/>
              </a:lnSpc>
            </a:pPr>
            <a:r>
              <a:rPr lang="en-US" sz="7645">
                <a:solidFill>
                  <a:srgbClr val="AF5937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Problematização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05103" y="4338018"/>
            <a:ext cx="4173506" cy="203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</a:pPr>
            <a:r>
              <a:rPr lang="en-US" sz="2485" b="true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Isolamento Urbano: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2301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Moramos a poucos metros de centenas de pessoas (em prédios ou ruas densas), mas não sabemos o nome de quem vive ao lado.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5593" y="4338018"/>
            <a:ext cx="4173506" cy="239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</a:pPr>
            <a:r>
              <a:rPr lang="en-US" sz="2485" b="true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O Desperdício de Recursos: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2301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Quantas furadeiras paradas existem no seu andar/casa? Quantas pessoas saem para comprar algo que o vizinho tem sobrando?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9391" y="4338018"/>
            <a:ext cx="4173506" cy="28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  <a:spcBef>
                <a:spcPct val="0"/>
              </a:spcBef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A Solidão Funcional: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 Pequenos problemas (trocar uma lâmpada, cuidar de um pet por 1h, emprestar uma escada) tornam-se grandes transtornos por falta de uma rede de apoio local.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9119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69610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23408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087" y="6035784"/>
            <a:ext cx="17768518" cy="6359649"/>
          </a:xfrm>
          <a:custGeom>
            <a:avLst/>
            <a:gdLst/>
            <a:ahLst/>
            <a:cxnLst/>
            <a:rect r="r" b="b" t="t" l="l"/>
            <a:pathLst>
              <a:path h="6359649" w="17768518">
                <a:moveTo>
                  <a:pt x="0" y="0"/>
                </a:moveTo>
                <a:lnTo>
                  <a:pt x="17768518" y="0"/>
                </a:lnTo>
                <a:lnTo>
                  <a:pt x="17768518" y="6359649"/>
                </a:lnTo>
                <a:lnTo>
                  <a:pt x="0" y="6359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3488" y="1346489"/>
            <a:ext cx="9441024" cy="117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2"/>
              </a:lnSpc>
            </a:pPr>
            <a:r>
              <a:rPr lang="en-US" sz="7645">
                <a:solidFill>
                  <a:srgbClr val="AF5937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Dados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541327" y="2819096"/>
            <a:ext cx="1301057" cy="130105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91818" y="2819096"/>
            <a:ext cx="1301057" cy="130105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45616" y="2819096"/>
            <a:ext cx="1301057" cy="130105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593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4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05103" y="4338018"/>
            <a:ext cx="4173506" cy="216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  <a:spcBef>
                <a:spcPct val="0"/>
              </a:spcBef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O Custo da Conveniência: 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Serviços de entrega e reparos rápidos cobram taxas altas para tarefas que um vizinho levaria 2 minutos para resolver.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5593" y="4338018"/>
            <a:ext cx="4173506" cy="169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</a:pPr>
            <a:r>
              <a:rPr lang="en-US" sz="2485" b="true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Urbanização: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2301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Segundo o IBGE, m</a:t>
            </a:r>
            <a:r>
              <a:rPr lang="en-US" sz="2301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ais de 84% da população brasileira vive em áreas urbanas. O potencial de rede é gigantesco.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9391" y="4338018"/>
            <a:ext cx="4173506" cy="233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2301" b="true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Fator Confiança: </a:t>
            </a:r>
          </a:p>
          <a:p>
            <a:pPr algn="ctr">
              <a:lnSpc>
                <a:spcPts val="2646"/>
              </a:lnSpc>
              <a:spcBef>
                <a:spcPct val="0"/>
              </a:spcBef>
            </a:pPr>
            <a:r>
              <a:rPr lang="en-US" sz="2301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Pesquisas da SPC Brazil indicam que 65% das pessoas estariam dispostas a ajudar um vizinho se houvesse um canal seguro e organizado para isso.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9119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69610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23408" y="3084821"/>
            <a:ext cx="1545473" cy="76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6"/>
              </a:lnSpc>
            </a:pPr>
            <a:r>
              <a:rPr lang="en-US" sz="4935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0647" y="1550793"/>
            <a:ext cx="5940258" cy="9491757"/>
          </a:xfrm>
          <a:custGeom>
            <a:avLst/>
            <a:gdLst/>
            <a:ahLst/>
            <a:cxnLst/>
            <a:rect r="r" b="b" t="t" l="l"/>
            <a:pathLst>
              <a:path h="9491757" w="5940258">
                <a:moveTo>
                  <a:pt x="0" y="0"/>
                </a:moveTo>
                <a:lnTo>
                  <a:pt x="5940257" y="0"/>
                </a:lnTo>
                <a:lnTo>
                  <a:pt x="5940257" y="9491757"/>
                </a:lnTo>
                <a:lnTo>
                  <a:pt x="0" y="9491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58864" y="2417090"/>
            <a:ext cx="4791329" cy="7963428"/>
          </a:xfrm>
          <a:custGeom>
            <a:avLst/>
            <a:gdLst/>
            <a:ahLst/>
            <a:cxnLst/>
            <a:rect r="r" b="b" t="t" l="l"/>
            <a:pathLst>
              <a:path h="7963428" w="4791329">
                <a:moveTo>
                  <a:pt x="4791329" y="0"/>
                </a:moveTo>
                <a:lnTo>
                  <a:pt x="0" y="0"/>
                </a:lnTo>
                <a:lnTo>
                  <a:pt x="0" y="7963428"/>
                </a:lnTo>
                <a:lnTo>
                  <a:pt x="4791329" y="7963428"/>
                </a:lnTo>
                <a:lnTo>
                  <a:pt x="47913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49610" y="1531743"/>
            <a:ext cx="8788779" cy="104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0"/>
              </a:lnSpc>
            </a:pPr>
            <a:r>
              <a:rPr lang="en-US" sz="6721">
                <a:solidFill>
                  <a:srgbClr val="AF5937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Solução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19355" y="3313583"/>
            <a:ext cx="7469765" cy="108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  <a:spcBef>
                <a:spcPct val="0"/>
              </a:spcBef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O que é: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 Uma plataforma de hiper-proximidade para troca de favores, empréstimos de objetos e compartilhamento de habilidades.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58378" y="4670090"/>
            <a:ext cx="8609254" cy="397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8"/>
              </a:lnSpc>
            </a:pPr>
            <a:r>
              <a:rPr lang="en-US" sz="2485" b="true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Pilares da Solução:</a:t>
            </a:r>
          </a:p>
          <a:p>
            <a:pPr algn="ctr">
              <a:lnSpc>
                <a:spcPts val="2858"/>
              </a:lnSpc>
            </a:pPr>
          </a:p>
          <a:p>
            <a:pPr algn="just" marL="536561" indent="-268280" lvl="1">
              <a:lnSpc>
                <a:spcPts val="3852"/>
              </a:lnSpc>
              <a:buFont typeface="Arial"/>
              <a:buChar char="•"/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Segurança: 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Validação de perfil.</a:t>
            </a:r>
          </a:p>
          <a:p>
            <a:pPr algn="just" marL="536561" indent="-268280" lvl="1">
              <a:lnSpc>
                <a:spcPts val="3852"/>
              </a:lnSpc>
              <a:buFont typeface="Arial"/>
              <a:buChar char="•"/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Mural de Pedidos: 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Sistema de "Gritos" e "Ofertas".</a:t>
            </a:r>
          </a:p>
          <a:p>
            <a:pPr algn="just" marL="536561" indent="-268280" lvl="1">
              <a:lnSpc>
                <a:spcPts val="3852"/>
              </a:lnSpc>
              <a:buFont typeface="Arial"/>
              <a:buChar char="•"/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Inventário Comum: 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Cadastro de itens que os vizinhos topam emprestar .</a:t>
            </a:r>
          </a:p>
          <a:p>
            <a:pPr algn="just" marL="536561" indent="-268280" lvl="1">
              <a:lnSpc>
                <a:spcPts val="3852"/>
              </a:lnSpc>
              <a:buFont typeface="Arial"/>
              <a:buChar char="•"/>
            </a:pPr>
            <a:r>
              <a:rPr lang="en-US" b="true" sz="2485">
                <a:solidFill>
                  <a:srgbClr val="AF5937"/>
                </a:solidFill>
                <a:latin typeface="DM Sans Bold"/>
                <a:ea typeface="DM Sans Bold"/>
                <a:cs typeface="DM Sans Bold"/>
                <a:sym typeface="DM Sans Bold"/>
              </a:rPr>
              <a:t>Gamificação da Gentileza: </a:t>
            </a:r>
            <a:r>
              <a:rPr lang="en-US" sz="2485">
                <a:solidFill>
                  <a:srgbClr val="AF5937"/>
                </a:solidFill>
                <a:latin typeface="DM Sans"/>
                <a:ea typeface="DM Sans"/>
                <a:cs typeface="DM Sans"/>
                <a:sym typeface="DM Sans"/>
              </a:rPr>
              <a:t>Sistema de pontos ou medalhas.</a:t>
            </a:r>
          </a:p>
          <a:p>
            <a:pPr algn="ctr">
              <a:lnSpc>
                <a:spcPts val="28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6246" y="4745886"/>
            <a:ext cx="20640492" cy="5624534"/>
          </a:xfrm>
          <a:custGeom>
            <a:avLst/>
            <a:gdLst/>
            <a:ahLst/>
            <a:cxnLst/>
            <a:rect r="r" b="b" t="t" l="l"/>
            <a:pathLst>
              <a:path h="5624534" w="20640492">
                <a:moveTo>
                  <a:pt x="0" y="0"/>
                </a:moveTo>
                <a:lnTo>
                  <a:pt x="20640492" y="0"/>
                </a:lnTo>
                <a:lnTo>
                  <a:pt x="20640492" y="5624535"/>
                </a:lnTo>
                <a:lnTo>
                  <a:pt x="0" y="5624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12008" y="1387060"/>
            <a:ext cx="12663983" cy="282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4"/>
              </a:lnSpc>
            </a:pPr>
            <a:r>
              <a:rPr lang="en-US" sz="9395">
                <a:solidFill>
                  <a:srgbClr val="AF5937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DAHDMP8SjlM</dc:identifier>
  <dcterms:modified xsi:type="dcterms:W3CDTF">2011-08-01T06:04:30Z</dcterms:modified>
  <cp:revision>1</cp:revision>
  <dc:title>Vizinhança Quem mora perto, ajuda mais</dc:title>
</cp:coreProperties>
</file>